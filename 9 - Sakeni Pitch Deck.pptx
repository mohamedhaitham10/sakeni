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6B6B"/>
                </a:solidFill>
              </a:defRPr>
            </a:pPr>
            <a:r>
              <a:t>SAKENI (سكني)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Modern Student Housing Marketplace for Egypt</a:t>
            </a:r>
          </a:p>
          <a:p>
            <a:r>
              <a:t>Eliminating Brokers. Connecting Directly.</a:t>
            </a:r>
          </a:p>
          <a:p/>
          <a:p>
            <a:r>
              <a:t>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Egypt has 3.5 Million university students; ~800K need off-campus housing.</a:t>
            </a:r>
          </a:p>
          <a:p>
            <a:pPr>
              <a:defRPr sz="2400"/>
            </a:pPr>
            <a:r>
              <a:t>Students search through chaotic, unverified Facebook groups.</a:t>
            </a:r>
          </a:p>
          <a:p>
            <a:pPr>
              <a:defRPr sz="2400"/>
            </a:pPr>
            <a:r>
              <a:t>Wasted time: 3-6 weeks average search, high risk of scams.</a:t>
            </a:r>
          </a:p>
          <a:p>
            <a:pPr>
              <a:defRPr sz="2400"/>
            </a:pPr>
            <a:r>
              <a:t>Heavy financial burden: Broker fees average EGP 3,000-8,000 per student (10-15% of annual rent).</a:t>
            </a:r>
          </a:p>
          <a:p>
            <a:pPr>
              <a:defRPr sz="2400"/>
            </a:pPr>
            <a:r>
              <a:t>Landlords lose rental yield to brokers and field hundreds of unserious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The Solution: SAKENI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mobile platform (Flutter + Firebase) directly connecting students with landlords.</a:t>
            </a:r>
          </a:p>
          <a:p>
            <a:pPr>
              <a:defRPr sz="2400"/>
            </a:pPr>
            <a:r>
              <a:t>Zero Broker Fees: Students pay nothing. Free to search and chat.</a:t>
            </a:r>
          </a:p>
          <a:p>
            <a:pPr>
              <a:defRPr sz="2400"/>
            </a:pPr>
            <a:r>
              <a:t>Verified Listings: Every apartment is reviewed to ensure quality and safety.</a:t>
            </a:r>
          </a:p>
          <a:p>
            <a:pPr>
              <a:defRPr sz="2400"/>
            </a:pPr>
            <a:r>
              <a:t>In-App Privacy: Phone numbers are hidden. Direct messaging via app.</a:t>
            </a:r>
          </a:p>
          <a:p>
            <a:pPr>
              <a:defRPr sz="2400"/>
            </a:pPr>
            <a:r>
              <a:t>Trust System: Built-in ratings and reviews for both landlords and properties.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Phase 1 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Addressable Market (Phase 1): ~400,000 out-of-town students.</a:t>
            </a:r>
          </a:p>
          <a:p>
            <a:pPr>
              <a:defRPr sz="2400"/>
            </a:pPr>
            <a:r>
              <a:t>Initial Zones: 6th October City, Al-Azhar University, Ain Shams University.</a:t>
            </a:r>
          </a:p>
          <a:p>
            <a:pPr>
              <a:defRPr sz="2400"/>
            </a:pPr>
            <a:r>
              <a:t>Annual rental transaction volume in these zones: EGP 600M - 1.5B.</a:t>
            </a:r>
          </a:p>
          <a:p>
            <a:pPr>
              <a:defRPr sz="2400"/>
            </a:pPr>
            <a:r>
              <a:t>Target Year 1: Capture 2% (8,000 active students, 700 verified listings).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Revenue Model (Freemium B2B2C)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Students use the platform for free (maximizing user acquisition).</a:t>
            </a:r>
          </a:p>
          <a:p>
            <a:pPr>
              <a:defRPr sz="2400"/>
            </a:pPr>
            <a:r>
              <a:t>1. Landlord Monthly Subscriptions: EGP 100-150 / month to list units.</a:t>
            </a:r>
          </a:p>
          <a:p>
            <a:pPr>
              <a:defRPr sz="2400"/>
            </a:pPr>
            <a:r>
              <a:t>2. Featured / Boosted Listings: EGP 300-500 / listing for top visibility.</a:t>
            </a:r>
          </a:p>
          <a:p>
            <a:pPr>
              <a:defRPr sz="2400"/>
            </a:pPr>
            <a:r>
              <a:t>3. Future Phase (Insurance): 3-5% commission on security deposits via Escrow.</a:t>
            </a:r>
          </a:p>
          <a:p>
            <a:pPr>
              <a:defRPr sz="2400"/>
            </a:pPr>
            <a:r>
              <a:t>4. Future Phase (Sales): 1-2% commission on property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Go-To-Market &amp; 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Supply First (Months -3 to 0): Recruit 300 verified listings pre-launch.</a:t>
            </a:r>
          </a:p>
          <a:p>
            <a:pPr>
              <a:defRPr sz="2400"/>
            </a:pPr>
            <a:r>
              <a:t>Using targeted Facebook Ads (landlords) and direct WhatsApp outreach.</a:t>
            </a:r>
          </a:p>
          <a:p>
            <a:pPr>
              <a:defRPr sz="2400"/>
            </a:pPr>
            <a:r>
              <a:t>Demand Generation (Months 1-6): Activate TikTok campaigns targeting the 18-24 demographic.</a:t>
            </a:r>
          </a:p>
          <a:p>
            <a:pPr>
              <a:defRPr sz="2400"/>
            </a:pPr>
            <a:r>
              <a:t>Offline: Student Ambassador programs across target campuses.</a:t>
            </a:r>
          </a:p>
          <a:p>
            <a:pPr>
              <a:defRPr sz="2400"/>
            </a:pPr>
            <a:r>
              <a:t>Incentive: First 3 months free for early adopting landlords.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B6B"/>
                </a:solidFill>
              </a:defRPr>
            </a:pPr>
            <a:r>
              <a:t>Financial Projections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Seed Capital Required: EGP 100,000.</a:t>
            </a:r>
          </a:p>
          <a:p>
            <a:pPr>
              <a:defRPr sz="2400"/>
            </a:pPr>
            <a:r>
              <a:t>Allocation: App Development &amp; Tech (60%), Design (15%), Marketing (15%), Ops/Legal (10%).</a:t>
            </a:r>
          </a:p>
          <a:p>
            <a:pPr>
              <a:defRPr sz="2400"/>
            </a:pPr>
            <a:r>
              <a:t>Projected Year 1 Revenue: EGP 600,000+ (500+ active landlord accounts).</a:t>
            </a:r>
          </a:p>
          <a:p>
            <a:pPr>
              <a:defRPr sz="2400"/>
            </a:pPr>
            <a:r>
              <a:t>Break-Even Target: Month 8-10 with operational costs at ~EGP 8,000/mo.</a:t>
            </a:r>
          </a:p>
          <a:p>
            <a:pPr>
              <a:defRPr sz="2400"/>
            </a:pPr>
            <a:r>
              <a:t>Unlocks pathway to scale into Egypt's EGP 500B+ general real estate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